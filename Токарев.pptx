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72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7" r:id="rId13"/>
    <p:sldId id="268" r:id="rId14"/>
    <p:sldId id="270" r:id="rId15"/>
    <p:sldId id="273" r:id="rId16"/>
    <p:sldId id="274" r:id="rId17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C532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44" y="49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95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524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620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861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1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166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928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061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0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5046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579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4099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270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476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389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36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5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067" y="2255065"/>
            <a:ext cx="7766936" cy="1646302"/>
          </a:xfrm>
        </p:spPr>
        <p:txBody>
          <a:bodyPr/>
          <a:lstStyle/>
          <a:p>
            <a:r>
              <a:rPr lang="ru-RU" altLang="ru-RU" dirty="0"/>
              <a:t>Дипломный проект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altLang="en-US" sz="2000" dirty="0">
                <a:solidFill>
                  <a:schemeClr val="tx1"/>
                </a:solidFill>
              </a:rPr>
              <a:t>по теме «</a:t>
            </a:r>
            <a:r>
              <a:rPr lang="en-US" altLang="en-US" sz="2000" dirty="0" err="1">
                <a:solidFill>
                  <a:schemeClr val="tx1"/>
                </a:solidFill>
              </a:rPr>
              <a:t>Автоматизированная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информационная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система</a:t>
            </a:r>
            <a:endParaRPr lang="en-US" altLang="en-US" sz="2000" dirty="0">
              <a:solidFill>
                <a:schemeClr val="tx1"/>
              </a:solidFill>
            </a:endParaRPr>
          </a:p>
          <a:p>
            <a:r>
              <a:rPr lang="ru-RU" altLang="en-US" sz="2000" dirty="0">
                <a:solidFill>
                  <a:schemeClr val="tx1"/>
                </a:solidFill>
              </a:rPr>
              <a:t>по учету и распределению рыболовной продукции»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8886825" y="5602605"/>
            <a:ext cx="406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dirty="0">
                <a:highlight>
                  <a:srgbClr val="96C532"/>
                </a:highlight>
              </a:rPr>
              <a:t>Выполнил: Токарев Даниил</a:t>
            </a:r>
          </a:p>
          <a:p>
            <a:r>
              <a:rPr lang="ru-RU" altLang="en-US" dirty="0">
                <a:highlight>
                  <a:srgbClr val="96C532"/>
                </a:highlight>
              </a:rPr>
              <a:t>Группа: ИСП-223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Актуальность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</a:rPr>
              <a:t>Для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розничной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торговли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ru-RU" altLang="en-US" sz="2400" dirty="0">
                <a:solidFill>
                  <a:schemeClr val="tx1"/>
                </a:solidFill>
              </a:rPr>
              <a:t>важно </a:t>
            </a:r>
            <a:r>
              <a:rPr lang="en-US" altLang="en-US" sz="2400" dirty="0" err="1">
                <a:solidFill>
                  <a:schemeClr val="tx1"/>
                </a:solidFill>
              </a:rPr>
              <a:t>иметь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ru-RU" altLang="ru-RU" sz="2400" dirty="0">
                <a:solidFill>
                  <a:schemeClr val="tx1"/>
                </a:solidFill>
              </a:rPr>
              <a:t>информацию об </a:t>
            </a:r>
            <a:r>
              <a:rPr lang="en-US" altLang="en-US" sz="2400" dirty="0" err="1">
                <a:solidFill>
                  <a:schemeClr val="tx1"/>
                </a:solidFill>
              </a:rPr>
              <a:t>актуальны</a:t>
            </a:r>
            <a:r>
              <a:rPr lang="ru-RU" altLang="en-US" sz="2400" dirty="0">
                <a:solidFill>
                  <a:schemeClr val="tx1"/>
                </a:solidFill>
              </a:rPr>
              <a:t>х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остатк</a:t>
            </a:r>
            <a:r>
              <a:rPr lang="ru-RU" altLang="en-US" sz="2400" dirty="0">
                <a:solidFill>
                  <a:schemeClr val="tx1"/>
                </a:solidFill>
              </a:rPr>
              <a:t>ах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в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ru-RU" altLang="ru-RU" sz="2400" dirty="0">
                <a:solidFill>
                  <a:schemeClr val="tx1"/>
                </a:solidFill>
              </a:rPr>
              <a:t>режиме </a:t>
            </a:r>
            <a:r>
              <a:rPr lang="en-US" altLang="en-US" sz="2400" dirty="0" err="1">
                <a:solidFill>
                  <a:schemeClr val="tx1"/>
                </a:solidFill>
              </a:rPr>
              <a:t>реально</a:t>
            </a:r>
            <a:r>
              <a:rPr lang="ru-RU" altLang="en-US" sz="2400" dirty="0">
                <a:solidFill>
                  <a:schemeClr val="tx1"/>
                </a:solidFill>
              </a:rPr>
              <a:t>го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времени</a:t>
            </a:r>
            <a:r>
              <a:rPr lang="en-US" altLang="ru-RU" sz="2400" dirty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sz="2400" dirty="0">
                <a:solidFill>
                  <a:schemeClr val="tx1"/>
                </a:solidFill>
              </a:rPr>
              <a:t>Каждый сотрудник должен иметь собственный уровень доступа</a:t>
            </a:r>
            <a:r>
              <a:rPr lang="en-US" altLang="ru-RU" sz="2400" dirty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</a:rPr>
              <a:t>Автоматизация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снижает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риск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ошибок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и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ускоряет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обработку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заказов</a:t>
            </a:r>
            <a:r>
              <a:rPr lang="en-US" altLang="ru-RU" sz="2400" dirty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</a:rPr>
              <a:t>Система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востребована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в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малом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и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среднем</a:t>
            </a:r>
            <a:r>
              <a:rPr lang="en-US" altLang="ru-RU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</a:rPr>
              <a:t>бизнесе</a:t>
            </a:r>
            <a:r>
              <a:rPr lang="en-US" altLang="ru-RU" sz="2400" dirty="0">
                <a:solidFill>
                  <a:schemeClr val="tx1"/>
                </a:solidFill>
              </a:rPr>
              <a:t> (</a:t>
            </a:r>
            <a:r>
              <a:rPr lang="ru-RU" altLang="ru-RU" sz="2400" dirty="0">
                <a:solidFill>
                  <a:schemeClr val="tx1"/>
                </a:solidFill>
              </a:rPr>
              <a:t>как </a:t>
            </a:r>
            <a:r>
              <a:rPr lang="en-US" altLang="en-US" sz="2400" dirty="0" err="1">
                <a:solidFill>
                  <a:schemeClr val="tx1"/>
                </a:solidFill>
              </a:rPr>
              <a:t>например</a:t>
            </a:r>
            <a:r>
              <a:rPr lang="en-US" altLang="ru-RU" sz="2400" dirty="0">
                <a:solidFill>
                  <a:schemeClr val="tx1"/>
                </a:solidFill>
              </a:rPr>
              <a:t>, </a:t>
            </a:r>
            <a:r>
              <a:rPr lang="ru-RU" altLang="en-US" sz="2400" dirty="0">
                <a:solidFill>
                  <a:schemeClr val="tx1"/>
                </a:solidFill>
              </a:rPr>
              <a:t>рыболовные </a:t>
            </a:r>
            <a:r>
              <a:rPr lang="en-US" altLang="en-US" sz="2400" dirty="0" err="1">
                <a:solidFill>
                  <a:schemeClr val="tx1"/>
                </a:solidFill>
              </a:rPr>
              <a:t>магазины</a:t>
            </a:r>
            <a:r>
              <a:rPr lang="en-US" altLang="ru-RU" sz="2400" dirty="0">
                <a:solidFill>
                  <a:schemeClr val="tx1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Цели </a:t>
            </a:r>
            <a:r>
              <a:rPr lang="en-US" altLang="en-US"/>
              <a:t>проекта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 err="1">
                <a:solidFill>
                  <a:schemeClr val="tx1"/>
                </a:solidFill>
              </a:rPr>
              <a:t>Разработать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информационную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систему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для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учёта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ru-RU" altLang="en-US" sz="2800" dirty="0">
                <a:solidFill>
                  <a:schemeClr val="tx1"/>
                </a:solidFill>
              </a:rPr>
              <a:t>рыболовных снастей</a:t>
            </a:r>
            <a:r>
              <a:rPr lang="en-US" altLang="ru-RU" sz="2800" dirty="0">
                <a:solidFill>
                  <a:schemeClr val="tx1"/>
                </a:solidFill>
              </a:rPr>
              <a:t>, </a:t>
            </a:r>
            <a:r>
              <a:rPr lang="en-US" altLang="en-US" sz="2800" dirty="0" err="1">
                <a:solidFill>
                  <a:schemeClr val="tx1"/>
                </a:solidFill>
              </a:rPr>
              <a:t>которая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обеспечивает</a:t>
            </a:r>
            <a:r>
              <a:rPr lang="en-US" altLang="ru-RU" sz="2800" dirty="0">
                <a:solidFill>
                  <a:schemeClr val="tx1"/>
                </a:solidFill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chemeClr val="tx1"/>
                </a:solidFill>
              </a:rPr>
              <a:t>контроль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остатков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на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складах</a:t>
            </a:r>
            <a:r>
              <a:rPr lang="en-US" altLang="ru-RU" sz="2800" dirty="0">
                <a:solidFill>
                  <a:schemeClr val="tx1"/>
                </a:solidFill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chemeClr val="tx1"/>
                </a:solidFill>
              </a:rPr>
              <a:t>разграничение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доступа</a:t>
            </a:r>
            <a:r>
              <a:rPr lang="en-US" altLang="ru-RU" sz="2800" dirty="0">
                <a:solidFill>
                  <a:schemeClr val="tx1"/>
                </a:solidFill>
              </a:rPr>
              <a:t> (</a:t>
            </a:r>
            <a:r>
              <a:rPr lang="en-US" altLang="en-US" sz="2800" dirty="0" err="1">
                <a:solidFill>
                  <a:schemeClr val="tx1"/>
                </a:solidFill>
              </a:rPr>
              <a:t>гость</a:t>
            </a:r>
            <a:r>
              <a:rPr lang="en-US" altLang="ru-RU" sz="2800" dirty="0">
                <a:solidFill>
                  <a:schemeClr val="tx1"/>
                </a:solidFill>
              </a:rPr>
              <a:t>, </a:t>
            </a:r>
            <a:r>
              <a:rPr lang="en-US" altLang="en-US" sz="2800" dirty="0" err="1">
                <a:solidFill>
                  <a:schemeClr val="tx1"/>
                </a:solidFill>
              </a:rPr>
              <a:t>клиент</a:t>
            </a:r>
            <a:r>
              <a:rPr lang="en-US" altLang="ru-RU" sz="2800" dirty="0">
                <a:solidFill>
                  <a:schemeClr val="tx1"/>
                </a:solidFill>
              </a:rPr>
              <a:t>, </a:t>
            </a:r>
            <a:r>
              <a:rPr lang="en-US" altLang="en-US" sz="2800" dirty="0" err="1">
                <a:solidFill>
                  <a:schemeClr val="tx1"/>
                </a:solidFill>
              </a:rPr>
              <a:t>менеджер</a:t>
            </a:r>
            <a:r>
              <a:rPr lang="en-US" altLang="ru-RU" sz="2800" dirty="0">
                <a:solidFill>
                  <a:schemeClr val="tx1"/>
                </a:solidFill>
              </a:rPr>
              <a:t>, </a:t>
            </a:r>
            <a:r>
              <a:rPr lang="en-US" altLang="en-US" sz="2800" dirty="0" err="1">
                <a:solidFill>
                  <a:schemeClr val="tx1"/>
                </a:solidFill>
              </a:rPr>
              <a:t>администратор</a:t>
            </a:r>
            <a:r>
              <a:rPr lang="en-US" altLang="ru-RU" sz="2800" dirty="0">
                <a:solidFill>
                  <a:schemeClr val="tx1"/>
                </a:solidFill>
              </a:rPr>
              <a:t>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chemeClr val="tx1"/>
                </a:solidFill>
              </a:rPr>
              <a:t>автоматизацию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работы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с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товарами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и</a:t>
            </a:r>
            <a:r>
              <a:rPr lang="en-US" altLang="ru-RU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</a:rPr>
              <a:t>заказами</a:t>
            </a:r>
            <a:r>
              <a:rPr lang="en-US" altLang="ru-RU" sz="2800" dirty="0">
                <a:solidFill>
                  <a:schemeClr val="tx1"/>
                </a:solidFill>
              </a:rPr>
              <a:t>.</a:t>
            </a:r>
          </a:p>
          <a:p>
            <a:endParaRPr lang="en-US" altLang="ru-RU" dirty="0">
              <a:solidFill>
                <a:schemeClr val="tx1"/>
              </a:solidFill>
            </a:endParaRPr>
          </a:p>
          <a:p>
            <a:endParaRPr lang="en-US" alt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Задачи проекта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en-US" sz="2400">
                <a:solidFill>
                  <a:schemeClr val="tx1"/>
                </a:solidFill>
              </a:rPr>
              <a:t>Спроектировать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базу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данных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в</a:t>
            </a:r>
            <a:r>
              <a:rPr lang="en-US" altLang="ru-RU" sz="2400">
                <a:solidFill>
                  <a:schemeClr val="tx1"/>
                </a:solidFill>
              </a:rPr>
              <a:t> 3</a:t>
            </a:r>
            <a:r>
              <a:rPr lang="en-US" altLang="en-US" sz="2400">
                <a:solidFill>
                  <a:schemeClr val="tx1"/>
                </a:solidFill>
              </a:rPr>
              <a:t>НФ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с</a:t>
            </a:r>
            <a:r>
              <a:rPr lang="en-US" altLang="ru-RU" sz="2400">
                <a:solidFill>
                  <a:schemeClr val="tx1"/>
                </a:solidFill>
              </a:rPr>
              <a:t> ER-</a:t>
            </a:r>
            <a:r>
              <a:rPr lang="en-US" altLang="en-US" sz="2400">
                <a:solidFill>
                  <a:schemeClr val="tx1"/>
                </a:solidFill>
              </a:rPr>
              <a:t>диаграммой</a:t>
            </a:r>
            <a:r>
              <a:rPr lang="en-US" altLang="ru-RU" sz="240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US" sz="2400">
                <a:solidFill>
                  <a:schemeClr val="tx1"/>
                </a:solidFill>
              </a:rPr>
              <a:t>Импортировать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исходные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данные</a:t>
            </a:r>
            <a:r>
              <a:rPr lang="en-US" altLang="ru-RU" sz="240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US" sz="2400">
                <a:solidFill>
                  <a:schemeClr val="tx1"/>
                </a:solidFill>
              </a:rPr>
              <a:t>Разработать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приложение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с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авторизацией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и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ролевым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интерфейсом</a:t>
            </a:r>
            <a:r>
              <a:rPr lang="en-US" altLang="ru-RU" sz="240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US" sz="2400">
                <a:solidFill>
                  <a:schemeClr val="tx1"/>
                </a:solidFill>
              </a:rPr>
              <a:t>Реализовать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просмотр</a:t>
            </a:r>
            <a:r>
              <a:rPr lang="en-US" altLang="ru-RU" sz="2400">
                <a:solidFill>
                  <a:schemeClr val="tx1"/>
                </a:solidFill>
              </a:rPr>
              <a:t>, </a:t>
            </a:r>
            <a:r>
              <a:rPr lang="en-US" altLang="en-US" sz="2400">
                <a:solidFill>
                  <a:schemeClr val="tx1"/>
                </a:solidFill>
              </a:rPr>
              <a:t>поиск</a:t>
            </a:r>
            <a:r>
              <a:rPr lang="en-US" altLang="ru-RU" sz="2400">
                <a:solidFill>
                  <a:schemeClr val="tx1"/>
                </a:solidFill>
              </a:rPr>
              <a:t>, </a:t>
            </a:r>
            <a:r>
              <a:rPr lang="en-US" altLang="en-US" sz="2400">
                <a:solidFill>
                  <a:schemeClr val="tx1"/>
                </a:solidFill>
              </a:rPr>
              <a:t>фильтрацию</a:t>
            </a:r>
            <a:r>
              <a:rPr lang="en-US" altLang="ru-RU" sz="2400">
                <a:solidFill>
                  <a:schemeClr val="tx1"/>
                </a:solidFill>
              </a:rPr>
              <a:t>, </a:t>
            </a:r>
            <a:r>
              <a:rPr lang="en-US" altLang="en-US" sz="2400">
                <a:solidFill>
                  <a:schemeClr val="tx1"/>
                </a:solidFill>
              </a:rPr>
              <a:t>сортировку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товаров</a:t>
            </a:r>
            <a:r>
              <a:rPr lang="en-US" altLang="ru-RU" sz="240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US" sz="2400">
                <a:solidFill>
                  <a:schemeClr val="tx1"/>
                </a:solidFill>
              </a:rPr>
              <a:t>Добавить</a:t>
            </a:r>
            <a:r>
              <a:rPr lang="ru-RU" altLang="en-US" sz="2400">
                <a:solidFill>
                  <a:schemeClr val="tx1"/>
                </a:solidFill>
              </a:rPr>
              <a:t> операции управления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для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товаров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и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заказов</a:t>
            </a:r>
            <a:r>
              <a:rPr lang="en-US" altLang="ru-RU" sz="2400">
                <a:solidFill>
                  <a:schemeClr val="tx1"/>
                </a:solidFill>
              </a:rPr>
              <a:t> (</a:t>
            </a:r>
            <a:r>
              <a:rPr lang="en-US" altLang="en-US" sz="2400">
                <a:solidFill>
                  <a:schemeClr val="tx1"/>
                </a:solidFill>
              </a:rPr>
              <a:t>для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администратора</a:t>
            </a:r>
            <a:r>
              <a:rPr lang="en-US" altLang="ru-RU" sz="2400">
                <a:solidFill>
                  <a:schemeClr val="tx1"/>
                </a:solidFill>
              </a:rPr>
              <a:t>).</a:t>
            </a:r>
            <a:endParaRPr lang="ru-RU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/>
              <a:t>Используемые средства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err="1">
                <a:solidFill>
                  <a:schemeClr val="tx1"/>
                </a:solidFill>
              </a:rPr>
              <a:t>Платформа</a:t>
            </a:r>
            <a:r>
              <a:rPr lang="en-US" altLang="ru-RU" sz="3200" dirty="0">
                <a:solidFill>
                  <a:schemeClr val="tx1"/>
                </a:solidFill>
              </a:rPr>
              <a:t>: WPF (C#), </a:t>
            </a:r>
            <a:r>
              <a:rPr lang="en-US" altLang="en-US" sz="3200" dirty="0" err="1">
                <a:solidFill>
                  <a:schemeClr val="tx1"/>
                </a:solidFill>
              </a:rPr>
              <a:t>настольное</a:t>
            </a:r>
            <a:r>
              <a:rPr lang="en-US" altLang="ru-RU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приложение</a:t>
            </a:r>
            <a:endParaRPr lang="en-US" altLang="ru-RU" sz="32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БД</a:t>
            </a:r>
            <a:r>
              <a:rPr lang="en-US" altLang="ru-RU" sz="3200" dirty="0">
                <a:solidFill>
                  <a:schemeClr val="tx1"/>
                </a:solidFill>
              </a:rPr>
              <a:t>: MS SQL Server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err="1">
                <a:solidFill>
                  <a:schemeClr val="tx1"/>
                </a:solidFill>
              </a:rPr>
              <a:t>Доступ</a:t>
            </a:r>
            <a:r>
              <a:rPr lang="en-US" altLang="ru-RU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к</a:t>
            </a:r>
            <a:r>
              <a:rPr lang="en-US" altLang="ru-RU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данным</a:t>
            </a:r>
            <a:r>
              <a:rPr lang="en-US" altLang="ru-RU" sz="3200" dirty="0">
                <a:solidFill>
                  <a:schemeClr val="tx1"/>
                </a:solidFill>
              </a:rPr>
              <a:t>: Entity Framework + ADO.NET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Функциональные</a:t>
            </a:r>
            <a:r>
              <a:rPr lang="en-US" altLang="ru-RU"/>
              <a:t> </a:t>
            </a:r>
            <a:r>
              <a:rPr lang="en-US" altLang="en-US"/>
              <a:t>требования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 sz="3200" dirty="0">
                <a:solidFill>
                  <a:schemeClr val="tx1"/>
                </a:solidFill>
              </a:rPr>
              <a:t>4 </a:t>
            </a:r>
            <a:r>
              <a:rPr lang="en-US" altLang="en-US" sz="3200" dirty="0" err="1">
                <a:solidFill>
                  <a:schemeClr val="tx1"/>
                </a:solidFill>
              </a:rPr>
              <a:t>роли</a:t>
            </a:r>
            <a:r>
              <a:rPr lang="en-US" altLang="ru-RU" sz="3200" dirty="0">
                <a:solidFill>
                  <a:schemeClr val="tx1"/>
                </a:solidFill>
              </a:rPr>
              <a:t>: </a:t>
            </a:r>
            <a:r>
              <a:rPr lang="en-US" altLang="en-US" sz="3200" dirty="0" err="1">
                <a:solidFill>
                  <a:schemeClr val="tx1"/>
                </a:solidFill>
              </a:rPr>
              <a:t>Гость</a:t>
            </a:r>
            <a:r>
              <a:rPr lang="en-US" altLang="ru-RU" sz="3200" dirty="0">
                <a:solidFill>
                  <a:schemeClr val="tx1"/>
                </a:solidFill>
              </a:rPr>
              <a:t>, </a:t>
            </a:r>
            <a:r>
              <a:rPr lang="ru-RU" altLang="en-US" sz="3200" dirty="0">
                <a:solidFill>
                  <a:schemeClr val="tx1"/>
                </a:solidFill>
              </a:rPr>
              <a:t>Клиент</a:t>
            </a:r>
            <a:r>
              <a:rPr lang="en-US" altLang="ru-RU" sz="3200" dirty="0">
                <a:solidFill>
                  <a:schemeClr val="tx1"/>
                </a:solidFill>
              </a:rPr>
              <a:t>, </a:t>
            </a:r>
            <a:r>
              <a:rPr lang="en-US" altLang="en-US" sz="3200" dirty="0" err="1">
                <a:solidFill>
                  <a:schemeClr val="tx1"/>
                </a:solidFill>
              </a:rPr>
              <a:t>Менеджер</a:t>
            </a:r>
            <a:r>
              <a:rPr lang="en-US" altLang="ru-RU" sz="3200" dirty="0">
                <a:solidFill>
                  <a:schemeClr val="tx1"/>
                </a:solidFill>
              </a:rPr>
              <a:t>, </a:t>
            </a:r>
            <a:r>
              <a:rPr lang="en-US" altLang="en-US" sz="3200" dirty="0" err="1">
                <a:solidFill>
                  <a:schemeClr val="tx1"/>
                </a:solidFill>
              </a:rPr>
              <a:t>Администратор</a:t>
            </a:r>
            <a:endParaRPr lang="en-US" altLang="ru-RU" sz="32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err="1">
                <a:solidFill>
                  <a:schemeClr val="tx1"/>
                </a:solidFill>
              </a:rPr>
              <a:t>Авторизация</a:t>
            </a:r>
            <a:r>
              <a:rPr lang="en-US" altLang="ru-RU" sz="3200" dirty="0">
                <a:solidFill>
                  <a:schemeClr val="tx1"/>
                </a:solidFill>
              </a:rPr>
              <a:t> + </a:t>
            </a:r>
            <a:r>
              <a:rPr lang="en-US" altLang="en-US" sz="3200" dirty="0" err="1">
                <a:solidFill>
                  <a:schemeClr val="tx1"/>
                </a:solidFill>
              </a:rPr>
              <a:t>вход</a:t>
            </a:r>
            <a:r>
              <a:rPr lang="en-US" altLang="ru-RU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без</a:t>
            </a:r>
            <a:r>
              <a:rPr lang="en-US" altLang="ru-RU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</a:rPr>
              <a:t>логина</a:t>
            </a:r>
            <a:r>
              <a:rPr lang="en-US" altLang="ru-RU" sz="3200" dirty="0">
                <a:solidFill>
                  <a:schemeClr val="tx1"/>
                </a:solidFill>
              </a:rPr>
              <a:t> (</a:t>
            </a:r>
            <a:r>
              <a:rPr lang="en-US" altLang="en-US" sz="3200" dirty="0">
                <a:solidFill>
                  <a:schemeClr val="tx1"/>
                </a:solidFill>
              </a:rPr>
              <a:t>«</a:t>
            </a:r>
            <a:r>
              <a:rPr lang="en-US" altLang="en-US" sz="3200" dirty="0" err="1">
                <a:solidFill>
                  <a:schemeClr val="tx1"/>
                </a:solidFill>
              </a:rPr>
              <a:t>Гость</a:t>
            </a:r>
            <a:r>
              <a:rPr lang="en-US" altLang="en-US" sz="3200" dirty="0">
                <a:solidFill>
                  <a:schemeClr val="tx1"/>
                </a:solidFill>
              </a:rPr>
              <a:t>»</a:t>
            </a:r>
            <a:r>
              <a:rPr lang="en-US" altLang="ru-RU" sz="3200" dirty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sz="3200" dirty="0">
                <a:solidFill>
                  <a:schemeClr val="tx1"/>
                </a:solidFill>
              </a:rPr>
              <a:t>Список товаров</a:t>
            </a:r>
            <a:r>
              <a:rPr lang="en-US" altLang="ru-RU" sz="3200" dirty="0">
                <a:solidFill>
                  <a:schemeClr val="tx1"/>
                </a:solidFill>
              </a:rPr>
              <a:t>: </a:t>
            </a:r>
            <a:r>
              <a:rPr lang="en-US" altLang="en-US" sz="3200" dirty="0" err="1">
                <a:solidFill>
                  <a:schemeClr val="tx1"/>
                </a:solidFill>
              </a:rPr>
              <a:t>поиск</a:t>
            </a:r>
            <a:r>
              <a:rPr lang="en-US" altLang="ru-RU" sz="3200" dirty="0">
                <a:solidFill>
                  <a:schemeClr val="tx1"/>
                </a:solidFill>
              </a:rPr>
              <a:t>, </a:t>
            </a:r>
            <a:r>
              <a:rPr lang="en-US" altLang="en-US" sz="3200" dirty="0" err="1">
                <a:solidFill>
                  <a:schemeClr val="tx1"/>
                </a:solidFill>
              </a:rPr>
              <a:t>фильтр</a:t>
            </a:r>
            <a:r>
              <a:rPr lang="en-US" altLang="ru-RU" sz="3200" dirty="0">
                <a:solidFill>
                  <a:schemeClr val="tx1"/>
                </a:solidFill>
              </a:rPr>
              <a:t>, </a:t>
            </a:r>
            <a:r>
              <a:rPr lang="en-US" altLang="en-US" sz="3200" dirty="0" err="1">
                <a:solidFill>
                  <a:schemeClr val="tx1"/>
                </a:solidFill>
              </a:rPr>
              <a:t>сортировка</a:t>
            </a:r>
            <a:r>
              <a:rPr lang="en-US" altLang="ru-RU" sz="3200" dirty="0">
                <a:solidFill>
                  <a:schemeClr val="tx1"/>
                </a:solidFill>
              </a:rPr>
              <a:t> (</a:t>
            </a:r>
            <a:r>
              <a:rPr lang="en-US" altLang="en-US" sz="3200" dirty="0" err="1">
                <a:solidFill>
                  <a:schemeClr val="tx1"/>
                </a:solidFill>
              </a:rPr>
              <a:t>мгновенно</a:t>
            </a:r>
            <a:r>
              <a:rPr lang="en-US" altLang="ru-RU" sz="3200" dirty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err="1">
                <a:solidFill>
                  <a:schemeClr val="tx1"/>
                </a:solidFill>
              </a:rPr>
              <a:t>Управление</a:t>
            </a:r>
            <a:r>
              <a:rPr lang="en-US" altLang="ru-RU" sz="3200" dirty="0">
                <a:solidFill>
                  <a:schemeClr val="tx1"/>
                </a:solidFill>
              </a:rPr>
              <a:t> </a:t>
            </a:r>
            <a:r>
              <a:rPr lang="ru-RU" altLang="en-US" sz="3200" dirty="0">
                <a:solidFill>
                  <a:schemeClr val="tx1"/>
                </a:solidFill>
              </a:rPr>
              <a:t>товарами и заказами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Вид базы данных</a:t>
            </a:r>
          </a:p>
        </p:txBody>
      </p:sp>
      <p:pic>
        <p:nvPicPr>
          <p:cNvPr id="7" name="Объект 6" descr="Изображение выглядит как текст, диаграмма, План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549AEC9-0345-BA94-58ED-B321B42E5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18" y="1649054"/>
            <a:ext cx="7183020" cy="4392971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Роли</a:t>
            </a:r>
            <a:r>
              <a:rPr lang="en-US" altLang="ru-RU" dirty="0"/>
              <a:t> </a:t>
            </a:r>
            <a:r>
              <a:rPr lang="en-US" altLang="en-US" dirty="0" err="1"/>
              <a:t>пользователей</a:t>
            </a:r>
            <a:endParaRPr lang="en-US" altLang="en-US" dirty="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tx1"/>
                </a:solidFill>
              </a:rPr>
              <a:t>В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системе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четыре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роли</a:t>
            </a:r>
            <a:r>
              <a:rPr lang="en-US" altLang="ru-RU" sz="2000" dirty="0">
                <a:solidFill>
                  <a:schemeClr val="tx1"/>
                </a:solidFill>
              </a:rPr>
              <a:t>. </a:t>
            </a:r>
            <a:r>
              <a:rPr lang="en-US" altLang="en-US" sz="2000" dirty="0" err="1">
                <a:solidFill>
                  <a:schemeClr val="tx1"/>
                </a:solidFill>
              </a:rPr>
              <a:t>При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входе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без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авторизации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пользователь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работает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как</a:t>
            </a:r>
            <a:r>
              <a:rPr lang="en-US" altLang="ru-RU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Гость</a:t>
            </a:r>
            <a:r>
              <a:rPr lang="en-US" altLang="ru-RU" sz="2000" dirty="0">
                <a:solidFill>
                  <a:schemeClr val="tx1"/>
                </a:solidFill>
              </a:rPr>
              <a:t>.</a:t>
            </a:r>
          </a:p>
        </p:txBody>
      </p:sp>
      <p:graphicFrame>
        <p:nvGraphicFramePr>
          <p:cNvPr id="4" name="Таблица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8384702"/>
              </p:ext>
            </p:extLst>
          </p:nvPr>
        </p:nvGraphicFramePr>
        <p:xfrm>
          <a:off x="1593850" y="3346597"/>
          <a:ext cx="7536180" cy="2350135"/>
        </p:xfrm>
        <a:graphic>
          <a:graphicData uri="http://schemas.openxmlformats.org/drawingml/2006/table">
            <a:tbl>
              <a:tblPr/>
              <a:tblGrid>
                <a:gridCol w="167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6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91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Роль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/>
                        <a:ea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Доступные возможности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Гость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Просмотр каталога номеров (без фильтрации и поиска)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Сотрудник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Просмотр каталога номеров (без фильтрации и поиска)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83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Менеджер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Каталог номеров с фильтрацией, поиском и сортировкой; просмотр списка бронирований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Администратор</a:t>
                      </a:r>
                      <a:endParaRPr lang="en-US" altLang="zh-CN" sz="1600" b="0" dirty="0">
                        <a:solidFill>
                          <a:srgbClr val="000000"/>
                        </a:solidFill>
                        <a:latin typeface="Times New Roman" panose="02020603050405020304"/>
                        <a:ea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Полный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 </a:t>
                      </a:r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доступ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: </a:t>
                      </a:r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управление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 </a:t>
                      </a:r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номерами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, </a:t>
                      </a:r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услугами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 и </a:t>
                      </a:r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бронированиями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 (</a:t>
                      </a:r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добавление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, </a:t>
                      </a:r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редактирование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, </a:t>
                      </a:r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удаление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Arial" panose="020B0604020202020204"/>
                        </a:rPr>
                        <a:t>)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Страница авторизации</a:t>
            </a:r>
          </a:p>
        </p:txBody>
      </p:sp>
      <p:pic>
        <p:nvPicPr>
          <p:cNvPr id="7" name="Объект 6" descr="Изображение выглядит как текст, снимок экрана, программное обеспечение, Операционная система">
            <a:extLst>
              <a:ext uri="{FF2B5EF4-FFF2-40B4-BE49-F238E27FC236}">
                <a16:creationId xmlns:a16="http://schemas.microsoft.com/office/drawing/2014/main" id="{94CA39C0-4BD3-D2B7-3E60-44E9F2725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544" y="2160588"/>
            <a:ext cx="6988950" cy="3881437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 descr="Изображение выглядит как текст, снимок экрана, программное обеспечение, веб-страница">
            <a:extLst>
              <a:ext uri="{FF2B5EF4-FFF2-40B4-BE49-F238E27FC236}">
                <a16:creationId xmlns:a16="http://schemas.microsoft.com/office/drawing/2014/main" id="{C67AC6B6-54A5-83A8-5035-B33D116C5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013" y="2160588"/>
            <a:ext cx="5434012" cy="3881437"/>
          </a:xfrm>
        </p:spPr>
      </p:pic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609F05CB-1253-8E29-C748-C075EFB9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Роли пользователей</a:t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 descr="Изображение выглядит как текст, снимок экрана, число, программное обеспечение">
            <a:extLst>
              <a:ext uri="{FF2B5EF4-FFF2-40B4-BE49-F238E27FC236}">
                <a16:creationId xmlns:a16="http://schemas.microsoft.com/office/drawing/2014/main" id="{CAF2ECCC-85CF-DE30-8BC2-BD73E9B2D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912" y="2160588"/>
            <a:ext cx="6630213" cy="3881437"/>
          </a:xfr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CF46F062-39EE-A795-D41B-7F1BCBCC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Страница редактирования\добавления товаров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/>
              <a:t>Страница заказов</a:t>
            </a:r>
          </a:p>
        </p:txBody>
      </p:sp>
      <p:pic>
        <p:nvPicPr>
          <p:cNvPr id="6" name="Объект 5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74DE274-B6C3-0634-3D25-E97631E6A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209" y="2160588"/>
            <a:ext cx="5463620" cy="3881437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en-US"/>
              <a:t>Страница добавления</a:t>
            </a:r>
            <a:r>
              <a:rPr lang="en-US" altLang="en-US"/>
              <a:t>/</a:t>
            </a:r>
            <a:r>
              <a:rPr lang="ru-RU" altLang="en-US"/>
              <a:t>редактирования заказов</a:t>
            </a:r>
          </a:p>
        </p:txBody>
      </p:sp>
      <p:pic>
        <p:nvPicPr>
          <p:cNvPr id="7" name="Объект 6" descr="Изображение выглядит как текст, снимок экрана, число, Шрифт">
            <a:extLst>
              <a:ext uri="{FF2B5EF4-FFF2-40B4-BE49-F238E27FC236}">
                <a16:creationId xmlns:a16="http://schemas.microsoft.com/office/drawing/2014/main" id="{4DAB5695-0928-9AA4-C94C-CCDF79E67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772" y="2160588"/>
            <a:ext cx="5452494" cy="3881437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Тестирование</a:t>
            </a:r>
          </a:p>
        </p:txBody>
      </p:sp>
      <p:graphicFrame>
        <p:nvGraphicFramePr>
          <p:cNvPr id="5" name="Таблица 4"/>
          <p:cNvGraphicFramePr/>
          <p:nvPr>
            <p:extLst>
              <p:ext uri="{D42A27DB-BD31-4B8C-83A1-F6EECF244321}">
                <p14:modId xmlns:p14="http://schemas.microsoft.com/office/powerpoint/2010/main" val="2463635070"/>
              </p:ext>
            </p:extLst>
          </p:nvPr>
        </p:nvGraphicFramePr>
        <p:xfrm>
          <a:off x="1705708" y="1562735"/>
          <a:ext cx="8087898" cy="37039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2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100" dirty="0"/>
                        <a:t>№</a:t>
                      </a:r>
                    </a:p>
                  </a:txBody>
                  <a:tcPr marL="0" marR="122237" marT="76517" marB="76517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100" dirty="0" err="1"/>
                        <a:t>Тест-кейс</a:t>
                      </a:r>
                      <a:r>
                        <a:rPr lang="ru-RU" altLang="zh-CN" sz="1100" dirty="0"/>
                        <a:t>ы</a:t>
                      </a:r>
                      <a:endParaRPr lang="en-US" altLang="zh-CN" sz="1100" dirty="0"/>
                    </a:p>
                  </a:txBody>
                  <a:tcPr marL="122237" marR="122237" marT="76517" marB="76517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100" dirty="0" err="1"/>
                        <a:t>Ожидаемый</a:t>
                      </a:r>
                      <a:r>
                        <a:rPr lang="en-US" altLang="zh-CN" sz="1100" dirty="0"/>
                        <a:t> </a:t>
                      </a:r>
                      <a:r>
                        <a:rPr lang="en-US" altLang="zh-CN" sz="1100" dirty="0" err="1"/>
                        <a:t>результат</a:t>
                      </a:r>
                      <a:endParaRPr lang="en-US" altLang="zh-CN" sz="1100" dirty="0"/>
                    </a:p>
                  </a:txBody>
                  <a:tcPr marL="122237" marR="122237" marT="76517" marB="76517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ru-RU" altLang="en-US" sz="1100" dirty="0"/>
                        <a:t>Итоговый результат</a:t>
                      </a:r>
                    </a:p>
                  </a:txBody>
                  <a:tcPr marL="122237" marR="122237" marT="76517" marB="76517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100" dirty="0"/>
                        <a:t>1</a:t>
                      </a:r>
                    </a:p>
                  </a:txBody>
                  <a:tcPr marL="0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Вход с верным логином/паролем</a:t>
                      </a:r>
                    </a:p>
                  </a:txBody>
                  <a:tcPr marL="122237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Доступ к ролевым модулям</a:t>
                      </a:r>
                    </a:p>
                  </a:txBody>
                  <a:tcPr marL="122237" marR="0" marT="76517" marB="76517" anchor="ctr"/>
                </a:tc>
                <a:tc rowSpan="8"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ru-RU" altLang="en-US" sz="1100" dirty="0"/>
                        <a:t>Результат тест-кейсов соответствует ожидаемому</a:t>
                      </a:r>
                    </a:p>
                  </a:txBody>
                  <a:tcPr marL="122237" marR="0" marT="76517" marB="765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100" dirty="0"/>
                        <a:t>2</a:t>
                      </a:r>
                    </a:p>
                  </a:txBody>
                  <a:tcPr marL="0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 dirty="0" err="1"/>
                        <a:t>Вход</a:t>
                      </a:r>
                      <a:r>
                        <a:rPr lang="en-US" altLang="zh-CN" sz="1100" dirty="0"/>
                        <a:t> </a:t>
                      </a:r>
                      <a:r>
                        <a:rPr lang="en-US" altLang="zh-CN" sz="1100" dirty="0" err="1"/>
                        <a:t>как</a:t>
                      </a:r>
                      <a:r>
                        <a:rPr lang="en-US" altLang="zh-CN" sz="1100" dirty="0"/>
                        <a:t> </a:t>
                      </a:r>
                      <a:r>
                        <a:rPr lang="en-US" altLang="zh-CN" sz="1100" dirty="0" err="1"/>
                        <a:t>гость</a:t>
                      </a:r>
                      <a:endParaRPr lang="en-US" altLang="zh-CN" sz="1100" dirty="0"/>
                    </a:p>
                  </a:txBody>
                  <a:tcPr marL="122237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Только просмотр товаров</a:t>
                      </a:r>
                    </a:p>
                  </a:txBody>
                  <a:tcPr marL="122237" marR="0" marT="76517" marB="76517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122237" marR="0" marT="76517" marB="765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100" dirty="0"/>
                        <a:t>3</a:t>
                      </a:r>
                    </a:p>
                  </a:txBody>
                  <a:tcPr marL="0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Поиск товара по тексту</a:t>
                      </a:r>
                    </a:p>
                  </a:txBody>
                  <a:tcPr marL="122237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 dirty="0" err="1"/>
                        <a:t>Фильтрация</a:t>
                      </a:r>
                      <a:r>
                        <a:rPr lang="en-US" altLang="zh-CN" sz="1100" dirty="0"/>
                        <a:t> в </a:t>
                      </a:r>
                      <a:r>
                        <a:rPr lang="en-US" altLang="zh-CN" sz="1100" dirty="0" err="1"/>
                        <a:t>реальном</a:t>
                      </a:r>
                      <a:r>
                        <a:rPr lang="en-US" altLang="zh-CN" sz="1100" dirty="0"/>
                        <a:t> </a:t>
                      </a:r>
                      <a:r>
                        <a:rPr lang="en-US" altLang="zh-CN" sz="1100" dirty="0" err="1"/>
                        <a:t>времени</a:t>
                      </a:r>
                      <a:endParaRPr lang="en-US" altLang="zh-CN" sz="1100" dirty="0"/>
                    </a:p>
                  </a:txBody>
                  <a:tcPr marL="122237" marR="0" marT="76517" marB="76517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122237" marR="0" marT="76517" marB="765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100" dirty="0"/>
                        <a:t>4</a:t>
                      </a:r>
                    </a:p>
                  </a:txBody>
                  <a:tcPr marL="0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Сортировка по остаткам (возр./убыв.)</a:t>
                      </a:r>
                    </a:p>
                  </a:txBody>
                  <a:tcPr marL="122237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Список обновляется мгновенно</a:t>
                      </a:r>
                    </a:p>
                  </a:txBody>
                  <a:tcPr marL="122237" marR="0" marT="76517" marB="76517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122237" marR="0" marT="76517" marB="765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100" dirty="0"/>
                        <a:t>5</a:t>
                      </a:r>
                    </a:p>
                  </a:txBody>
                  <a:tcPr marL="0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Фильтр по поставщику («Все»)</a:t>
                      </a:r>
                    </a:p>
                  </a:txBody>
                  <a:tcPr marL="122237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Сброс фильтрации</a:t>
                      </a:r>
                    </a:p>
                  </a:txBody>
                  <a:tcPr marL="122237" marR="0" marT="76517" marB="76517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122237" marR="0" marT="76517" marB="7651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100" dirty="0"/>
                        <a:t>6</a:t>
                      </a:r>
                    </a:p>
                  </a:txBody>
                  <a:tcPr marL="0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Добавление товара админом</a:t>
                      </a:r>
                    </a:p>
                  </a:txBody>
                  <a:tcPr marL="122237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Данные сохраняются в БД, обновление списка</a:t>
                      </a:r>
                    </a:p>
                  </a:txBody>
                  <a:tcPr marL="122237" marR="0" marT="76517" marB="76517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122237" marR="0" marT="76517" marB="765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100" dirty="0"/>
                        <a:t>7</a:t>
                      </a:r>
                    </a:p>
                  </a:txBody>
                  <a:tcPr marL="0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Редактирование товара</a:t>
                      </a:r>
                    </a:p>
                  </a:txBody>
                  <a:tcPr marL="122237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 dirty="0" err="1"/>
                        <a:t>Поля</a:t>
                      </a:r>
                      <a:r>
                        <a:rPr lang="en-US" altLang="zh-CN" sz="1100" dirty="0"/>
                        <a:t> </a:t>
                      </a:r>
                      <a:r>
                        <a:rPr lang="en-US" altLang="zh-CN" sz="1100" dirty="0" err="1"/>
                        <a:t>подгружаются</a:t>
                      </a:r>
                      <a:endParaRPr lang="en-US" altLang="zh-CN" sz="1100" dirty="0"/>
                    </a:p>
                  </a:txBody>
                  <a:tcPr marL="122237" marR="0" marT="76517" marB="76517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122237" marR="0" marT="76517" marB="765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100" dirty="0"/>
                        <a:t>8</a:t>
                      </a:r>
                    </a:p>
                  </a:txBody>
                  <a:tcPr marL="0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/>
                        <a:t>Удаление товара (нет в заказах)</a:t>
                      </a:r>
                    </a:p>
                  </a:txBody>
                  <a:tcPr marL="122237" marR="122237" marT="76517" marB="7651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100" dirty="0" err="1"/>
                        <a:t>Товар</a:t>
                      </a:r>
                      <a:r>
                        <a:rPr lang="en-US" altLang="zh-CN" sz="1100" dirty="0"/>
                        <a:t> </a:t>
                      </a:r>
                      <a:r>
                        <a:rPr lang="en-US" altLang="zh-CN" sz="1100" dirty="0" err="1"/>
                        <a:t>удалён</a:t>
                      </a:r>
                      <a:r>
                        <a:rPr lang="en-US" altLang="zh-CN" sz="1100" dirty="0"/>
                        <a:t> </a:t>
                      </a:r>
                      <a:r>
                        <a:rPr lang="en-US" altLang="zh-CN" sz="1100" dirty="0" err="1"/>
                        <a:t>из</a:t>
                      </a:r>
                      <a:r>
                        <a:rPr lang="en-US" altLang="zh-CN" sz="1100" dirty="0"/>
                        <a:t> БД</a:t>
                      </a:r>
                    </a:p>
                  </a:txBody>
                  <a:tcPr marL="122237" marR="0" marT="76517" marB="76517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122237" marR="0" marT="76517" marB="765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Заключение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err="1">
                <a:solidFill>
                  <a:schemeClr val="tx1"/>
                </a:solidFill>
              </a:rPr>
              <a:t>Разработанная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информационная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система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полностью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соответствует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требованиям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задания</a:t>
            </a:r>
            <a:r>
              <a:rPr lang="en-US" altLang="ru-RU" dirty="0">
                <a:solidFill>
                  <a:schemeClr val="tx1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спроектирована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база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данных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реализована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авторизация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с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разграничением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прав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для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гостя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клиента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менеджера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и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администратора</a:t>
            </a:r>
            <a:r>
              <a:rPr lang="en-US" altLang="ru-RU" dirty="0">
                <a:solidFill>
                  <a:schemeClr val="tx1"/>
                </a:solidFill>
              </a:rPr>
              <a:t>. </a:t>
            </a:r>
          </a:p>
          <a:p>
            <a:r>
              <a:rPr lang="en-US" altLang="en-US" dirty="0" err="1">
                <a:solidFill>
                  <a:schemeClr val="tx1"/>
                </a:solidFill>
              </a:rPr>
              <a:t>Внедрены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все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ключевые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функции</a:t>
            </a:r>
            <a:r>
              <a:rPr lang="en-US" altLang="ru-RU" dirty="0">
                <a:solidFill>
                  <a:schemeClr val="tx1"/>
                </a:solidFill>
              </a:rPr>
              <a:t> — </a:t>
            </a:r>
            <a:r>
              <a:rPr lang="en-US" altLang="en-US" dirty="0" err="1">
                <a:solidFill>
                  <a:schemeClr val="tx1"/>
                </a:solidFill>
              </a:rPr>
              <a:t>просмотр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поиск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фильтрация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сортировка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товаров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en-US" dirty="0">
                <a:solidFill>
                  <a:schemeClr val="tx1"/>
                </a:solidFill>
              </a:rPr>
              <a:t>а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также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полноценное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управление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товарами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и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заказами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для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администратора</a:t>
            </a:r>
            <a:r>
              <a:rPr lang="en-US" altLang="ru-RU" dirty="0">
                <a:solidFill>
                  <a:schemeClr val="tx1"/>
                </a:solidFill>
              </a:rPr>
              <a:t>. </a:t>
            </a:r>
          </a:p>
          <a:p>
            <a:r>
              <a:rPr lang="en-US" altLang="en-US" dirty="0" err="1">
                <a:solidFill>
                  <a:schemeClr val="tx1"/>
                </a:solidFill>
              </a:rPr>
              <a:t>Система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готова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к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внедрению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в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реальный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процесс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учёта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ru-RU" altLang="en-US" dirty="0">
                <a:solidFill>
                  <a:schemeClr val="tx1"/>
                </a:solidFill>
              </a:rPr>
              <a:t>рыболовного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магазина</a:t>
            </a:r>
            <a:r>
              <a:rPr lang="en-US" altLang="ru-RU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altLang="en-US" sz="6600" dirty="0">
                <a:sym typeface="+mn-ea"/>
              </a:rPr>
              <a:t>Спасибо за внимание!</a:t>
            </a:r>
            <a:endParaRPr lang="ru-RU" altLang="en-US" sz="66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93*185"/>
  <p:tag name="TABLE_ENDDRAG_RECT" val="170*233*593*185"/>
</p:tagLst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453</Words>
  <Application>Microsoft Office PowerPoint</Application>
  <PresentationFormat>Широкоэкранный</PresentationFormat>
  <Paragraphs>83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微软雅黑</vt:lpstr>
      <vt:lpstr>Arial</vt:lpstr>
      <vt:lpstr>Calibri</vt:lpstr>
      <vt:lpstr>Times New Roman</vt:lpstr>
      <vt:lpstr>Trebuchet MS</vt:lpstr>
      <vt:lpstr>Wingdings 3</vt:lpstr>
      <vt:lpstr>Аспект</vt:lpstr>
      <vt:lpstr>Дипломный проект</vt:lpstr>
      <vt:lpstr>Актуальность</vt:lpstr>
      <vt:lpstr>Цели проекта</vt:lpstr>
      <vt:lpstr>Задачи проекта</vt:lpstr>
      <vt:lpstr>Используемые средства</vt:lpstr>
      <vt:lpstr>Функциональные требования</vt:lpstr>
      <vt:lpstr>Вид базы данных</vt:lpstr>
      <vt:lpstr>Роли пользователей</vt:lpstr>
      <vt:lpstr>Страница авторизации</vt:lpstr>
      <vt:lpstr>Роли пользователей </vt:lpstr>
      <vt:lpstr>Страница редактирования\добавления товаров</vt:lpstr>
      <vt:lpstr>Страница заказов</vt:lpstr>
      <vt:lpstr>Страница добавления/редактирования заказов</vt:lpstr>
      <vt:lpstr>Тестирование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under</dc:creator>
  <cp:lastModifiedBy>Даниил Токарев</cp:lastModifiedBy>
  <cp:revision>14</cp:revision>
  <dcterms:created xsi:type="dcterms:W3CDTF">2025-07-23T00:59:00Z</dcterms:created>
  <dcterms:modified xsi:type="dcterms:W3CDTF">2026-04-03T09:34:58Z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940680F8D9494CB1A0F33F337CF4AE58_11</vt:lpwstr>
  </property>
</Properties>
</file>